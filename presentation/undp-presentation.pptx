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0F9"/>
    <a:srgbClr val="003B73"/>
    <a:srgbClr val="006EB5"/>
    <a:srgbClr val="F7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1" y="53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04765-D7A5-89CE-2575-734EC5DD2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906F3-5D1E-F3E8-C031-442694E98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8792E-1295-2F7C-7D3A-101B6257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1103C-3650-5CA9-6054-10D97F47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2817-4B5B-E85C-90BA-50F68888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1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F4FF-4988-9912-3EA6-F397CA6B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D00B-7158-3356-16E3-6C46B8C6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93A7E-6415-5C0A-855F-29A3C153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3D66A-F0F4-10A3-EB57-DC111527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26ED4-FB38-9EF4-FF74-4B4353EC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0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7B51-BC83-21AB-60F8-BBFD992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18259-7CF3-09B4-81E8-DA16D71D7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38850-1BC7-22A9-A622-05FBB49E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61C00-D3B5-A97A-A592-B18EF825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3B609-9F18-FB05-129A-ED98AD0B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2C24-987B-3820-2398-ABB6431A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B2CC5-7C09-D041-88E3-024C58706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C9106-33E0-C8E4-4C03-B3E78B39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84E9A-07B0-5717-02F5-5F9A38B6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D2595-E6AB-E261-1F90-CBE8A354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C1A57-638E-0E48-1599-929E944F8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9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D10F-C43B-05A2-E26F-956A0509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70344-AA60-2206-2711-13154B8BE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9257F-C9A4-6AE0-389C-2AB4CDD51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4E70E-A3EE-098B-FC38-75FA9D830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3DFA0-A352-61E7-ADD7-5049B97BA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90BB4-B257-E46D-9418-D7ADD701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E769A-7883-2ED7-BFD8-9F4A1F9D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09840-016A-DAB1-38BD-A1115A6E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7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D29A-1220-9C51-643B-B20F7F9C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FB06C-695A-77CD-29BA-ABE87344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10E6-8462-7273-5BBF-33785A5E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D51E5-9D46-D6B8-F460-4FCE5B1E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45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02F39-9749-32CE-162E-19AF39B0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82759-894A-F52D-F0CA-7796649A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27C9D-6502-9BAF-3048-5B794500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0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5108-37D1-E255-4DBE-AA2DC740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4ACD0-C804-F289-4BFF-E8A83A0A1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F329E-F68E-F081-2AE4-09B97918B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DA90A-B0AF-CD8C-FD32-49AA1EF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C7F28-9BF6-035B-36A8-DA9342C6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EC629-4E36-BA0D-56D9-AE8558FC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224B-116F-EDDA-3475-83A1CD12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F7FC2-0836-30C1-0E62-EB04A62F5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A0488-199A-996F-65A8-86A9FF98C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754AA-E9F1-A60E-41CD-D91548E5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2A8AE-8C9B-206A-82C4-2746906DA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9810D-3CD4-B065-649C-50F2FB19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2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8067-40A9-D968-808A-3BF11F66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8E2FC-69C4-EF3D-C9A4-AE2A27F23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116FC-5B6C-68C8-65D9-B4044602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5C29B-C56C-3155-19C1-C2A5B619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D9F9-08FE-2E2C-4C02-E50F0CCE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D8723-A14E-D2BD-88A3-3633AAEE2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193F4-4C72-CF78-5BC7-1B8197862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B29EF-1F78-D77C-CC8C-1A6A1BC9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08861-6347-B645-D983-E50F2532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C904F-2FE8-83D1-17AE-F6E44CAD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8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88CC6-D06D-7256-9A56-F11999C5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5B093-86FD-EE30-D2DF-68BC9DF59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423C2-E76B-DAB3-E35A-2418C9955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4D2CE-FFC4-4149-8F28-0215311F45D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75975-31AA-2ECE-FB30-D75022E39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369B2-3C9D-C9A7-0005-651C1DEFA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E0A3C-F143-4DCB-8F10-21C4D0521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0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98E58E-D902-6DB9-69B6-69E984C2BE3B}"/>
              </a:ext>
            </a:extLst>
          </p:cNvPr>
          <p:cNvSpPr txBox="1"/>
          <p:nvPr/>
        </p:nvSpPr>
        <p:spPr>
          <a:xfrm>
            <a:off x="983710" y="424804"/>
            <a:ext cx="8028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6EB5"/>
                </a:solidFill>
              </a:rPr>
              <a:t>UNDP M&amp;E Indicator Tracker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01DF58-A1D7-C38F-8E09-BC99ADD57732}"/>
              </a:ext>
            </a:extLst>
          </p:cNvPr>
          <p:cNvCxnSpPr>
            <a:cxnSpLocks/>
          </p:cNvCxnSpPr>
          <p:nvPr/>
        </p:nvCxnSpPr>
        <p:spPr>
          <a:xfrm>
            <a:off x="7928149" y="0"/>
            <a:ext cx="0" cy="6858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2D508D1-B4AA-6AF3-4A62-088A3B6EB43B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Team performance, Project dashboard, Task management illustration in 3D Boost style download in PNG, SVG">
            <a:extLst>
              <a:ext uri="{FF2B5EF4-FFF2-40B4-BE49-F238E27FC236}">
                <a16:creationId xmlns:a16="http://schemas.microsoft.com/office/drawing/2014/main" id="{D5288393-4749-4037-632B-5AB9ABD2B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882" y="241161"/>
            <a:ext cx="1075173" cy="107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DP-Logo-Blue-Large - Sustainable Development Goals">
            <a:extLst>
              <a:ext uri="{FF2B5EF4-FFF2-40B4-BE49-F238E27FC236}">
                <a16:creationId xmlns:a16="http://schemas.microsoft.com/office/drawing/2014/main" id="{98F521CB-3DDF-353D-1F57-4DAAD96CF8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9" r="24398"/>
          <a:stretch/>
        </p:blipFill>
        <p:spPr bwMode="auto">
          <a:xfrm>
            <a:off x="8728077" y="1830426"/>
            <a:ext cx="2535661" cy="470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43952C-2984-7701-DF3D-4B6C24629FB4}"/>
              </a:ext>
            </a:extLst>
          </p:cNvPr>
          <p:cNvSpPr txBox="1"/>
          <p:nvPr/>
        </p:nvSpPr>
        <p:spPr>
          <a:xfrm>
            <a:off x="845243" y="2669713"/>
            <a:ext cx="683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Kano Youth Livelihood &amp; Empowerment </a:t>
            </a:r>
            <a:r>
              <a:rPr lang="en-US" dirty="0" err="1">
                <a:solidFill>
                  <a:srgbClr val="006EB5"/>
                </a:solidFill>
              </a:rPr>
              <a:t>Programme</a:t>
            </a:r>
            <a:r>
              <a:rPr lang="en-US" dirty="0">
                <a:solidFill>
                  <a:srgbClr val="006EB5"/>
                </a:solidFill>
              </a:rPr>
              <a:t>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43632-7819-9052-6A17-B2573726BFB9}"/>
              </a:ext>
            </a:extLst>
          </p:cNvPr>
          <p:cNvSpPr txBox="1"/>
          <p:nvPr/>
        </p:nvSpPr>
        <p:spPr>
          <a:xfrm>
            <a:off x="182880" y="5708758"/>
            <a:ext cx="7148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Prepared by: Umar Musa Isah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Data Analyst | Excel | SQL | Power BI | Python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51383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0BB13B-56F4-2558-0FE2-6E32D0FEA1FE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BD525-BACA-CE88-E0E7-A9A998EB8220}"/>
              </a:ext>
            </a:extLst>
          </p:cNvPr>
          <p:cNvSpPr txBox="1"/>
          <p:nvPr/>
        </p:nvSpPr>
        <p:spPr>
          <a:xfrm>
            <a:off x="4170067" y="492370"/>
            <a:ext cx="3838469" cy="63094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500" b="1" u="sng" dirty="0">
                <a:solidFill>
                  <a:srgbClr val="006EB5"/>
                </a:solidFill>
              </a:rPr>
              <a:t>Project Overview</a:t>
            </a:r>
          </a:p>
        </p:txBody>
      </p:sp>
      <p:pic>
        <p:nvPicPr>
          <p:cNvPr id="5" name="Picture 4" descr="A blue globe with black background&#10;&#10;AI-generated content may be incorrect.">
            <a:extLst>
              <a:ext uri="{FF2B5EF4-FFF2-40B4-BE49-F238E27FC236}">
                <a16:creationId xmlns:a16="http://schemas.microsoft.com/office/drawing/2014/main" id="{707F8DFB-E898-8C1A-44C0-E266F1ECE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52" y="1888587"/>
            <a:ext cx="1273522" cy="1273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D8395B-4D73-F3AD-6067-4824341B8D2E}"/>
              </a:ext>
            </a:extLst>
          </p:cNvPr>
          <p:cNvSpPr txBox="1"/>
          <p:nvPr/>
        </p:nvSpPr>
        <p:spPr>
          <a:xfrm>
            <a:off x="555564" y="1031924"/>
            <a:ext cx="1497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6EB5"/>
                </a:solidFill>
              </a:rPr>
              <a:t>Sector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AD3D2-4424-AAF4-64CA-E4FC496D1A2F}"/>
              </a:ext>
            </a:extLst>
          </p:cNvPr>
          <p:cNvSpPr txBox="1"/>
          <p:nvPr/>
        </p:nvSpPr>
        <p:spPr>
          <a:xfrm>
            <a:off x="365760" y="3164621"/>
            <a:ext cx="348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International Development / NGO</a:t>
            </a:r>
          </a:p>
        </p:txBody>
      </p:sp>
      <p:pic>
        <p:nvPicPr>
          <p:cNvPr id="9" name="Picture 8" descr="A blue line on a black background&#10;&#10;AI-generated content may be incorrect.">
            <a:extLst>
              <a:ext uri="{FF2B5EF4-FFF2-40B4-BE49-F238E27FC236}">
                <a16:creationId xmlns:a16="http://schemas.microsoft.com/office/drawing/2014/main" id="{5ECCFFB0-713E-2440-564A-47F208AC6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403" y="1888588"/>
            <a:ext cx="1497951" cy="12735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241B6B-FC8E-AAA3-F33E-89FB94E7D81C}"/>
              </a:ext>
            </a:extLst>
          </p:cNvPr>
          <p:cNvSpPr txBox="1"/>
          <p:nvPr/>
        </p:nvSpPr>
        <p:spPr>
          <a:xfrm>
            <a:off x="4976350" y="3105834"/>
            <a:ext cx="2090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Kano State, Nigeria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12 LGAs Covered</a:t>
            </a:r>
          </a:p>
        </p:txBody>
      </p:sp>
      <p:pic>
        <p:nvPicPr>
          <p:cNvPr id="12" name="Picture 11" descr="A blue and black logo&#10;&#10;AI-generated content may be incorrect.">
            <a:extLst>
              <a:ext uri="{FF2B5EF4-FFF2-40B4-BE49-F238E27FC236}">
                <a16:creationId xmlns:a16="http://schemas.microsoft.com/office/drawing/2014/main" id="{38BFA390-D6DB-690F-3DD8-BA0BF804E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135" y="1888586"/>
            <a:ext cx="1273522" cy="1217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2F237-2A98-4D2E-577F-8CDEE0D9FC0B}"/>
              </a:ext>
            </a:extLst>
          </p:cNvPr>
          <p:cNvSpPr txBox="1"/>
          <p:nvPr/>
        </p:nvSpPr>
        <p:spPr>
          <a:xfrm>
            <a:off x="8642393" y="3164621"/>
            <a:ext cx="3034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Python, Excel, Power BI, DAX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2605F6-9E59-154D-E847-6F604AFA7E6F}"/>
              </a:ext>
            </a:extLst>
          </p:cNvPr>
          <p:cNvSpPr/>
          <p:nvPr/>
        </p:nvSpPr>
        <p:spPr>
          <a:xfrm>
            <a:off x="663191" y="4009292"/>
            <a:ext cx="11264202" cy="2532185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480C4-E4D3-48CA-77E3-9F28E8E152CF}"/>
              </a:ext>
            </a:extLst>
          </p:cNvPr>
          <p:cNvSpPr txBox="1"/>
          <p:nvPr/>
        </p:nvSpPr>
        <p:spPr>
          <a:xfrm>
            <a:off x="1304540" y="4801431"/>
            <a:ext cx="10256829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6EB5"/>
                </a:solidFill>
              </a:rPr>
              <a:t>This project simulates a UNDP Monitoring &amp; Evaluation reporting system designed to track </a:t>
            </a:r>
            <a:r>
              <a:rPr lang="en-US" dirty="0" err="1">
                <a:solidFill>
                  <a:srgbClr val="006EB5"/>
                </a:solidFill>
              </a:rPr>
              <a:t>programme</a:t>
            </a:r>
            <a:r>
              <a:rPr lang="en-US" dirty="0">
                <a:solidFill>
                  <a:srgbClr val="006EB5"/>
                </a:solidFill>
              </a:rPr>
              <a:t> implementation, performance indicators, budget utilization, and operational risks across Kano State.</a:t>
            </a:r>
          </a:p>
        </p:txBody>
      </p:sp>
    </p:spTree>
    <p:extLst>
      <p:ext uri="{BB962C8B-B14F-4D97-AF65-F5344CB8AC3E}">
        <p14:creationId xmlns:p14="http://schemas.microsoft.com/office/powerpoint/2010/main" val="359143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00DD9B-268A-F119-B6CE-B346A20B940F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EFA6A-F42A-F3A3-7A25-23A0FC7B2F6C}"/>
              </a:ext>
            </a:extLst>
          </p:cNvPr>
          <p:cNvSpPr txBox="1"/>
          <p:nvPr/>
        </p:nvSpPr>
        <p:spPr>
          <a:xfrm>
            <a:off x="4170066" y="371789"/>
            <a:ext cx="398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Business Problem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0B41EA-1656-91CE-0EB7-C250FF933931}"/>
              </a:ext>
            </a:extLst>
          </p:cNvPr>
          <p:cNvSpPr/>
          <p:nvPr/>
        </p:nvSpPr>
        <p:spPr>
          <a:xfrm>
            <a:off x="1055074" y="1467060"/>
            <a:ext cx="5432809" cy="5074418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88BD85-7887-B694-BEAA-06BA61C5F7E0}"/>
              </a:ext>
            </a:extLst>
          </p:cNvPr>
          <p:cNvSpPr/>
          <p:nvPr/>
        </p:nvSpPr>
        <p:spPr>
          <a:xfrm>
            <a:off x="7285055" y="1411793"/>
            <a:ext cx="3456633" cy="5074418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5A4C6-C39E-7985-356C-A5B9D8C4A846}"/>
              </a:ext>
            </a:extLst>
          </p:cNvPr>
          <p:cNvSpPr txBox="1"/>
          <p:nvPr/>
        </p:nvSpPr>
        <p:spPr>
          <a:xfrm>
            <a:off x="1611082" y="2201879"/>
            <a:ext cx="432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6EB5"/>
                </a:solidFill>
              </a:rPr>
              <a:t>Large-scale development </a:t>
            </a:r>
            <a:r>
              <a:rPr lang="en-US" sz="2000" dirty="0" err="1">
                <a:solidFill>
                  <a:srgbClr val="006EB5"/>
                </a:solidFill>
              </a:rPr>
              <a:t>programmes</a:t>
            </a:r>
            <a:r>
              <a:rPr lang="en-US" sz="2000" dirty="0">
                <a:solidFill>
                  <a:srgbClr val="006EB5"/>
                </a:solidFill>
              </a:rPr>
              <a:t> generate substantial operational data from field teams, implementing partners, and beneficiaries.</a:t>
            </a:r>
          </a:p>
          <a:p>
            <a:endParaRPr lang="en-US" sz="2000" dirty="0">
              <a:solidFill>
                <a:srgbClr val="006EB5"/>
              </a:solidFill>
            </a:endParaRPr>
          </a:p>
          <a:p>
            <a:endParaRPr lang="en-US" sz="2000" dirty="0">
              <a:solidFill>
                <a:srgbClr val="006EB5"/>
              </a:solidFill>
            </a:endParaRPr>
          </a:p>
          <a:p>
            <a:r>
              <a:rPr lang="en-US" sz="2000" dirty="0">
                <a:solidFill>
                  <a:srgbClr val="006EB5"/>
                </a:solidFill>
              </a:rPr>
              <a:t>Without centralized reporting, </a:t>
            </a:r>
            <a:r>
              <a:rPr lang="en-US" sz="2000" dirty="0" err="1">
                <a:solidFill>
                  <a:srgbClr val="006EB5"/>
                </a:solidFill>
              </a:rPr>
              <a:t>programme</a:t>
            </a:r>
            <a:r>
              <a:rPr lang="en-US" sz="2000" dirty="0">
                <a:solidFill>
                  <a:srgbClr val="006EB5"/>
                </a:solidFill>
              </a:rPr>
              <a:t> managers struggle with delayed reporting, weak KPI visibility, poor budget monitoring, and slow risk escalation.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EF03E5-04EF-443C-F94A-EFDBDC1338F7}"/>
              </a:ext>
            </a:extLst>
          </p:cNvPr>
          <p:cNvSpPr/>
          <p:nvPr/>
        </p:nvSpPr>
        <p:spPr>
          <a:xfrm>
            <a:off x="8332595" y="1427871"/>
            <a:ext cx="1434403" cy="1204797"/>
          </a:xfrm>
          <a:prstGeom prst="ellipse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2C3A9E-B72D-ABAE-7C4C-7C92A21C9060}"/>
              </a:ext>
            </a:extLst>
          </p:cNvPr>
          <p:cNvSpPr/>
          <p:nvPr/>
        </p:nvSpPr>
        <p:spPr>
          <a:xfrm>
            <a:off x="8332592" y="2711547"/>
            <a:ext cx="1434403" cy="1204797"/>
          </a:xfrm>
          <a:prstGeom prst="ellipse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2B5209-EDF4-3622-81D6-7B43B6B8177E}"/>
              </a:ext>
            </a:extLst>
          </p:cNvPr>
          <p:cNvSpPr/>
          <p:nvPr/>
        </p:nvSpPr>
        <p:spPr>
          <a:xfrm>
            <a:off x="8332592" y="4002761"/>
            <a:ext cx="1434403" cy="1204797"/>
          </a:xfrm>
          <a:prstGeom prst="ellipse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B6BEFF-7F49-6709-7318-992051E5434D}"/>
              </a:ext>
            </a:extLst>
          </p:cNvPr>
          <p:cNvSpPr/>
          <p:nvPr/>
        </p:nvSpPr>
        <p:spPr>
          <a:xfrm>
            <a:off x="8332592" y="5281414"/>
            <a:ext cx="1434403" cy="1204797"/>
          </a:xfrm>
          <a:prstGeom prst="ellipse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white exclamation mark in a triangle&#10;&#10;AI-generated content may be incorrect.">
            <a:extLst>
              <a:ext uri="{FF2B5EF4-FFF2-40B4-BE49-F238E27FC236}">
                <a16:creationId xmlns:a16="http://schemas.microsoft.com/office/drawing/2014/main" id="{E313AACB-BCD1-3837-94AA-B5DB6124F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812" y="5375176"/>
            <a:ext cx="863487" cy="863487"/>
          </a:xfrm>
          <a:prstGeom prst="rect">
            <a:avLst/>
          </a:prstGeom>
        </p:spPr>
      </p:pic>
      <p:pic>
        <p:nvPicPr>
          <p:cNvPr id="19" name="Picture 18" descr="A stack of coins with a pound symbol&#10;&#10;AI-generated content may be incorrect.">
            <a:extLst>
              <a:ext uri="{FF2B5EF4-FFF2-40B4-BE49-F238E27FC236}">
                <a16:creationId xmlns:a16="http://schemas.microsoft.com/office/drawing/2014/main" id="{C9F04A38-942E-76F7-87CD-CC67C1B55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343" y="4310017"/>
            <a:ext cx="671486" cy="671486"/>
          </a:xfrm>
          <a:prstGeom prst="rect">
            <a:avLst/>
          </a:prstGeom>
        </p:spPr>
      </p:pic>
      <p:pic>
        <p:nvPicPr>
          <p:cNvPr id="21" name="Picture 20" descr="A white hourglass on a black background&#10;&#10;AI-generated content may be incorrect.">
            <a:extLst>
              <a:ext uri="{FF2B5EF4-FFF2-40B4-BE49-F238E27FC236}">
                <a16:creationId xmlns:a16="http://schemas.microsoft.com/office/drawing/2014/main" id="{1A66F7DC-57F6-8400-176E-2C6E46444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752" y="1616135"/>
            <a:ext cx="823055" cy="8230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BC85BC-3EDF-B1B2-8AAA-C1AB24B2BA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283" y="2991441"/>
            <a:ext cx="652546" cy="65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9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4AD9E-9FE1-FA16-80CB-C992CAFEA781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58CDF-9C6F-C6BC-7723-FF8F0A0F1979}"/>
              </a:ext>
            </a:extLst>
          </p:cNvPr>
          <p:cNvSpPr txBox="1"/>
          <p:nvPr/>
        </p:nvSpPr>
        <p:spPr>
          <a:xfrm>
            <a:off x="4148294" y="227871"/>
            <a:ext cx="4109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Project Objectives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7F6619-C102-873B-A442-34A30066EC39}"/>
              </a:ext>
            </a:extLst>
          </p:cNvPr>
          <p:cNvSpPr/>
          <p:nvPr/>
        </p:nvSpPr>
        <p:spPr>
          <a:xfrm>
            <a:off x="1406766" y="1008071"/>
            <a:ext cx="4582051" cy="2709819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897DAB-E474-E04D-0DFA-489F63F298C1}"/>
              </a:ext>
            </a:extLst>
          </p:cNvPr>
          <p:cNvSpPr/>
          <p:nvPr/>
        </p:nvSpPr>
        <p:spPr>
          <a:xfrm>
            <a:off x="1406765" y="3933816"/>
            <a:ext cx="4582051" cy="2709819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9E88F4-39A0-B379-21DC-115EFCA4B5A7}"/>
              </a:ext>
            </a:extLst>
          </p:cNvPr>
          <p:cNvSpPr/>
          <p:nvPr/>
        </p:nvSpPr>
        <p:spPr>
          <a:xfrm>
            <a:off x="6203183" y="1008071"/>
            <a:ext cx="4582051" cy="2709819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CAE392-4DE7-F33C-E87A-39667D581F5E}"/>
              </a:ext>
            </a:extLst>
          </p:cNvPr>
          <p:cNvSpPr/>
          <p:nvPr/>
        </p:nvSpPr>
        <p:spPr>
          <a:xfrm>
            <a:off x="6203182" y="3933816"/>
            <a:ext cx="4582051" cy="2709819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exclamation mark in a triangle&#10;&#10;AI-generated content may be incorrect.">
            <a:extLst>
              <a:ext uri="{FF2B5EF4-FFF2-40B4-BE49-F238E27FC236}">
                <a16:creationId xmlns:a16="http://schemas.microsoft.com/office/drawing/2014/main" id="{7FE4E9B6-C8B9-03DE-4587-CEB2568E1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902" y="3933816"/>
            <a:ext cx="1111281" cy="1232202"/>
          </a:xfrm>
          <a:prstGeom prst="rect">
            <a:avLst/>
          </a:prstGeom>
        </p:spPr>
      </p:pic>
      <p:pic>
        <p:nvPicPr>
          <p:cNvPr id="11" name="Picture 10" descr="A blue bag with a dollar sign&#10;&#10;AI-generated content may be incorrect.">
            <a:extLst>
              <a:ext uri="{FF2B5EF4-FFF2-40B4-BE49-F238E27FC236}">
                <a16:creationId xmlns:a16="http://schemas.microsoft.com/office/drawing/2014/main" id="{BFB56054-5235-56B8-8AA1-060A9EE7A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203" y="3935823"/>
            <a:ext cx="1232201" cy="1232201"/>
          </a:xfrm>
          <a:prstGeom prst="rect">
            <a:avLst/>
          </a:prstGeom>
        </p:spPr>
      </p:pic>
      <p:pic>
        <p:nvPicPr>
          <p:cNvPr id="13" name="Picture 12" descr="A blue bar chart with black background&#10;&#10;AI-generated content may be incorrect.">
            <a:extLst>
              <a:ext uri="{FF2B5EF4-FFF2-40B4-BE49-F238E27FC236}">
                <a16:creationId xmlns:a16="http://schemas.microsoft.com/office/drawing/2014/main" id="{0EF743C8-B659-E0F1-2528-814188C04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902" y="1120768"/>
            <a:ext cx="970540" cy="11508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10A8EA-7954-08B6-B147-D68F48162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203" y="1120769"/>
            <a:ext cx="1230487" cy="11508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DB12C7-5D94-9D3C-8056-AF5C1367B0B5}"/>
              </a:ext>
            </a:extLst>
          </p:cNvPr>
          <p:cNvSpPr txBox="1"/>
          <p:nvPr/>
        </p:nvSpPr>
        <p:spPr>
          <a:xfrm>
            <a:off x="7248273" y="5737232"/>
            <a:ext cx="279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Identify operational risks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174ECB-685C-A5E7-DC92-93B2DF41B18B}"/>
              </a:ext>
            </a:extLst>
          </p:cNvPr>
          <p:cNvSpPr txBox="1"/>
          <p:nvPr/>
        </p:nvSpPr>
        <p:spPr>
          <a:xfrm>
            <a:off x="2291020" y="5737231"/>
            <a:ext cx="281353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Analyze budget utilization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1215A-8DE8-A2AE-AFD9-7DFD689E73D7}"/>
              </a:ext>
            </a:extLst>
          </p:cNvPr>
          <p:cNvSpPr txBox="1"/>
          <p:nvPr/>
        </p:nvSpPr>
        <p:spPr>
          <a:xfrm>
            <a:off x="7146346" y="2780056"/>
            <a:ext cx="2796391" cy="368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Monitor KPI performance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91B10F-57A9-4A24-9AE8-BF32735D2A36}"/>
              </a:ext>
            </a:extLst>
          </p:cNvPr>
          <p:cNvSpPr txBox="1"/>
          <p:nvPr/>
        </p:nvSpPr>
        <p:spPr>
          <a:xfrm>
            <a:off x="2033451" y="2778827"/>
            <a:ext cx="3868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Track beneficiaries across LGAs</a:t>
            </a:r>
          </a:p>
        </p:txBody>
      </p:sp>
    </p:spTree>
    <p:extLst>
      <p:ext uri="{BB962C8B-B14F-4D97-AF65-F5344CB8AC3E}">
        <p14:creationId xmlns:p14="http://schemas.microsoft.com/office/powerpoint/2010/main" val="225732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E9F3C-563A-9079-1E3E-9FA744BFF5A6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D6CC1-325F-2FDB-E278-EDEC5B595443}"/>
              </a:ext>
            </a:extLst>
          </p:cNvPr>
          <p:cNvSpPr txBox="1"/>
          <p:nvPr/>
        </p:nvSpPr>
        <p:spPr>
          <a:xfrm>
            <a:off x="4190162" y="221062"/>
            <a:ext cx="417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Dataset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2046FA-793B-117B-4C71-E75BFA2B6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929601"/>
              </p:ext>
            </p:extLst>
          </p:nvPr>
        </p:nvGraphicFramePr>
        <p:xfrm>
          <a:off x="1167842" y="1419310"/>
          <a:ext cx="8128000" cy="200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321281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54030754"/>
                    </a:ext>
                  </a:extLst>
                </a:gridCol>
              </a:tblGrid>
              <a:tr h="5263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Dataset</a:t>
                      </a:r>
                    </a:p>
                  </a:txBody>
                  <a:tcPr anchor="ctr">
                    <a:solidFill>
                      <a:srgbClr val="006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Records</a:t>
                      </a:r>
                    </a:p>
                  </a:txBody>
                  <a:tcPr anchor="ctr">
                    <a:solidFill>
                      <a:srgbClr val="006E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632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Beneficiaries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1500+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91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KPI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00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Budget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9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Risk 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497050"/>
                  </a:ext>
                </a:extLst>
              </a:tr>
            </a:tbl>
          </a:graphicData>
        </a:graphic>
      </p:graphicFrame>
      <p:pic>
        <p:nvPicPr>
          <p:cNvPr id="7" name="Picture 6" descr="A blue circular object with black background&#10;&#10;AI-generated content may be incorrect.">
            <a:extLst>
              <a:ext uri="{FF2B5EF4-FFF2-40B4-BE49-F238E27FC236}">
                <a16:creationId xmlns:a16="http://schemas.microsoft.com/office/drawing/2014/main" id="{6F6F4D09-BD7D-8F27-7258-224E3BF22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578" y="1419310"/>
            <a:ext cx="1778557" cy="200969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5843DF-1CE4-7A5F-21CD-1439B9B1429E}"/>
              </a:ext>
            </a:extLst>
          </p:cNvPr>
          <p:cNvSpPr/>
          <p:nvPr/>
        </p:nvSpPr>
        <p:spPr>
          <a:xfrm>
            <a:off x="3707842" y="3803302"/>
            <a:ext cx="4913644" cy="2833636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6946B-A021-D7F2-B19A-B61A4267F74F}"/>
              </a:ext>
            </a:extLst>
          </p:cNvPr>
          <p:cNvSpPr txBox="1"/>
          <p:nvPr/>
        </p:nvSpPr>
        <p:spPr>
          <a:xfrm>
            <a:off x="4190162" y="4570679"/>
            <a:ext cx="4170066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6EB5"/>
                </a:solidFill>
              </a:rPr>
              <a:t>The dataset was synthetically generated using Python to simulate realistic UNDP </a:t>
            </a:r>
            <a:r>
              <a:rPr lang="en-US" dirty="0" err="1">
                <a:solidFill>
                  <a:srgbClr val="006EB5"/>
                </a:solidFill>
              </a:rPr>
              <a:t>programme</a:t>
            </a:r>
            <a:r>
              <a:rPr lang="en-US" dirty="0">
                <a:solidFill>
                  <a:srgbClr val="006EB5"/>
                </a:solidFill>
              </a:rPr>
              <a:t> operations.</a:t>
            </a:r>
          </a:p>
        </p:txBody>
      </p:sp>
    </p:spTree>
    <p:extLst>
      <p:ext uri="{BB962C8B-B14F-4D97-AF65-F5344CB8AC3E}">
        <p14:creationId xmlns:p14="http://schemas.microsoft.com/office/powerpoint/2010/main" val="171431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52DF8-C42C-52B6-97DB-AC221C8E1156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3394C-A3F7-B165-9807-6602C43762C3}"/>
              </a:ext>
            </a:extLst>
          </p:cNvPr>
          <p:cNvSpPr txBox="1"/>
          <p:nvPr/>
        </p:nvSpPr>
        <p:spPr>
          <a:xfrm>
            <a:off x="4768948" y="291402"/>
            <a:ext cx="3094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Data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BAE2D-930C-6045-32FC-77A7383E4187}"/>
              </a:ext>
            </a:extLst>
          </p:cNvPr>
          <p:cNvSpPr txBox="1"/>
          <p:nvPr/>
        </p:nvSpPr>
        <p:spPr>
          <a:xfrm>
            <a:off x="580795" y="1811256"/>
            <a:ext cx="114711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6EB5"/>
                </a:solidFill>
              </a:rPr>
              <a:t> Raw Data    →   Cleaning    →    Modeling    →    DAX    →    Dashboard</a:t>
            </a:r>
          </a:p>
        </p:txBody>
      </p:sp>
      <p:pic>
        <p:nvPicPr>
          <p:cNvPr id="7" name="Picture 6" descr="A blue and black diagram&#10;&#10;AI-generated content may be incorrect.">
            <a:extLst>
              <a:ext uri="{FF2B5EF4-FFF2-40B4-BE49-F238E27FC236}">
                <a16:creationId xmlns:a16="http://schemas.microsoft.com/office/drawing/2014/main" id="{49AF7AB2-BF48-495D-0A0A-DFA9E0BC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731" y="4084554"/>
            <a:ext cx="1884758" cy="1818114"/>
          </a:xfrm>
          <a:prstGeom prst="rect">
            <a:avLst/>
          </a:prstGeom>
        </p:spPr>
      </p:pic>
      <p:pic>
        <p:nvPicPr>
          <p:cNvPr id="9" name="Picture 8" descr="A blue and black calculator&#10;&#10;AI-generated content may be incorrect.">
            <a:extLst>
              <a:ext uri="{FF2B5EF4-FFF2-40B4-BE49-F238E27FC236}">
                <a16:creationId xmlns:a16="http://schemas.microsoft.com/office/drawing/2014/main" id="{BE809BB7-1543-79F7-7784-268818E67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182" y="4154892"/>
            <a:ext cx="1818114" cy="1818114"/>
          </a:xfrm>
          <a:prstGeom prst="rect">
            <a:avLst/>
          </a:prstGeom>
        </p:spPr>
      </p:pic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BE3E6541-4F53-3324-893C-A0E3A9425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069" y="4154892"/>
            <a:ext cx="1776588" cy="1818114"/>
          </a:xfrm>
          <a:prstGeom prst="rect">
            <a:avLst/>
          </a:prstGeom>
        </p:spPr>
      </p:pic>
      <p:pic>
        <p:nvPicPr>
          <p:cNvPr id="13" name="Picture 12" descr="A blue and black logo&#10;&#10;AI-generated content may be incorrect.">
            <a:extLst>
              <a:ext uri="{FF2B5EF4-FFF2-40B4-BE49-F238E27FC236}">
                <a16:creationId xmlns:a16="http://schemas.microsoft.com/office/drawing/2014/main" id="{05FAF18B-250C-895D-0BC4-8C70C3255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14" y="4154892"/>
            <a:ext cx="1818114" cy="1818114"/>
          </a:xfrm>
          <a:prstGeom prst="rect">
            <a:avLst/>
          </a:prstGeom>
        </p:spPr>
      </p:pic>
      <p:pic>
        <p:nvPicPr>
          <p:cNvPr id="15" name="Picture 14" descr="A blue circular object with black background&#10;&#10;AI-generated content may be incorrect.">
            <a:extLst>
              <a:ext uri="{FF2B5EF4-FFF2-40B4-BE49-F238E27FC236}">
                <a16:creationId xmlns:a16="http://schemas.microsoft.com/office/drawing/2014/main" id="{61F792B0-8C2D-41FF-7403-70C8EF81FF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514" y="4174568"/>
            <a:ext cx="1703233" cy="18181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D90D43-0021-2F92-465A-654905953428}"/>
              </a:ext>
            </a:extLst>
          </p:cNvPr>
          <p:cNvSpPr txBox="1"/>
          <p:nvPr/>
        </p:nvSpPr>
        <p:spPr>
          <a:xfrm>
            <a:off x="9828881" y="3648780"/>
            <a:ext cx="2251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Power BI Dashboard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F942AE-3283-3A3E-F31D-502651A6666F}"/>
              </a:ext>
            </a:extLst>
          </p:cNvPr>
          <p:cNvSpPr txBox="1"/>
          <p:nvPr/>
        </p:nvSpPr>
        <p:spPr>
          <a:xfrm>
            <a:off x="1050798" y="3618635"/>
            <a:ext cx="1173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Raw Data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CA08E-AE5F-1419-F5C7-0200070322F4}"/>
              </a:ext>
            </a:extLst>
          </p:cNvPr>
          <p:cNvSpPr txBox="1"/>
          <p:nvPr/>
        </p:nvSpPr>
        <p:spPr>
          <a:xfrm>
            <a:off x="3188470" y="3618635"/>
            <a:ext cx="1721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Data Cleaning 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6F4595-1BBA-4AF6-CD90-E3BF7A50AFAD}"/>
              </a:ext>
            </a:extLst>
          </p:cNvPr>
          <p:cNvSpPr txBox="1"/>
          <p:nvPr/>
        </p:nvSpPr>
        <p:spPr>
          <a:xfrm>
            <a:off x="5502514" y="3618635"/>
            <a:ext cx="1721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Data Modeling 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7BA8B-FE82-4B8A-5F9F-C6C7B33CE7EB}"/>
              </a:ext>
            </a:extLst>
          </p:cNvPr>
          <p:cNvSpPr txBox="1"/>
          <p:nvPr/>
        </p:nvSpPr>
        <p:spPr>
          <a:xfrm>
            <a:off x="7675365" y="3629912"/>
            <a:ext cx="177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DAX Measures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2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3C8E-0180-9A36-2747-C6282C4A5B23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DA916-9A3A-28BE-FB3F-1D52D4090E97}"/>
              </a:ext>
            </a:extLst>
          </p:cNvPr>
          <p:cNvSpPr txBox="1"/>
          <p:nvPr/>
        </p:nvSpPr>
        <p:spPr>
          <a:xfrm>
            <a:off x="4072095" y="164031"/>
            <a:ext cx="457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Dashboard Overview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A87548-ADB2-B648-B923-06EBC60A4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" r="1776"/>
          <a:stretch/>
        </p:blipFill>
        <p:spPr>
          <a:xfrm>
            <a:off x="1274772" y="986008"/>
            <a:ext cx="4261869" cy="2450488"/>
          </a:xfrm>
          <a:prstGeom prst="rect">
            <a:avLst/>
          </a:prstGeom>
          <a:effectLst>
            <a:outerShdw blurRad="63500" sx="102000" sy="102000" algn="ctr" rotWithShape="0">
              <a:srgbClr val="006EB5">
                <a:alpha val="40000"/>
              </a:srgbClr>
            </a:outerShdw>
          </a:effectLst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62B871-B82A-6A29-8C7D-813D58DBA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" r="1853"/>
          <a:stretch/>
        </p:blipFill>
        <p:spPr>
          <a:xfrm>
            <a:off x="6655360" y="933706"/>
            <a:ext cx="4418882" cy="2502790"/>
          </a:xfrm>
          <a:prstGeom prst="rect">
            <a:avLst/>
          </a:prstGeom>
          <a:effectLst>
            <a:outerShdw blurRad="63500" sx="102000" sy="102000" algn="ctr" rotWithShape="0">
              <a:srgbClr val="006EB5">
                <a:alpha val="40000"/>
              </a:srgbClr>
            </a:outerShdw>
          </a:effectLst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1D2B15-8D3F-5DB4-587B-B65DB1EF9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" r="1788"/>
          <a:stretch/>
        </p:blipFill>
        <p:spPr>
          <a:xfrm>
            <a:off x="1274772" y="4044943"/>
            <a:ext cx="4261870" cy="2470753"/>
          </a:xfrm>
          <a:prstGeom prst="rect">
            <a:avLst/>
          </a:prstGeom>
          <a:effectLst>
            <a:outerShdw blurRad="63500" sx="102000" sy="102000" algn="ctr" rotWithShape="0">
              <a:srgbClr val="006EB5">
                <a:alpha val="40000"/>
              </a:srgbClr>
            </a:outerShdw>
          </a:effectLst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87B068-4DF7-ADAE-D102-4188CD773D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5360" y="4027279"/>
            <a:ext cx="4418882" cy="2488417"/>
          </a:xfrm>
          <a:prstGeom prst="rect">
            <a:avLst/>
          </a:prstGeom>
          <a:effectLst>
            <a:outerShdw blurRad="63500" sx="102000" sy="102000" algn="ctr" rotWithShape="0">
              <a:srgbClr val="006EB5">
                <a:alpha val="4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DDEDE4-3221-415A-A6BD-65C76495B7D1}"/>
              </a:ext>
            </a:extLst>
          </p:cNvPr>
          <p:cNvSpPr txBox="1"/>
          <p:nvPr/>
        </p:nvSpPr>
        <p:spPr>
          <a:xfrm>
            <a:off x="8193603" y="6488668"/>
            <a:ext cx="2072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Risk Dashboard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97910-5560-BEFB-51FC-725CEBBD608C}"/>
              </a:ext>
            </a:extLst>
          </p:cNvPr>
          <p:cNvSpPr txBox="1"/>
          <p:nvPr/>
        </p:nvSpPr>
        <p:spPr>
          <a:xfrm>
            <a:off x="2404069" y="3478060"/>
            <a:ext cx="2218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Executive Overview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AADB3-7043-2B8F-E109-236DE31C844B}"/>
              </a:ext>
            </a:extLst>
          </p:cNvPr>
          <p:cNvSpPr txBox="1"/>
          <p:nvPr/>
        </p:nvSpPr>
        <p:spPr>
          <a:xfrm>
            <a:off x="7699550" y="3443318"/>
            <a:ext cx="2693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6EB5"/>
                </a:solidFill>
              </a:rPr>
              <a:t>Programme</a:t>
            </a:r>
            <a:r>
              <a:rPr lang="en-US" dirty="0">
                <a:solidFill>
                  <a:srgbClr val="006EB5"/>
                </a:solidFill>
              </a:rPr>
              <a:t> Performance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C68A2C-583D-2136-D84A-67034898A9C2}"/>
              </a:ext>
            </a:extLst>
          </p:cNvPr>
          <p:cNvSpPr txBox="1"/>
          <p:nvPr/>
        </p:nvSpPr>
        <p:spPr>
          <a:xfrm>
            <a:off x="2404069" y="6488668"/>
            <a:ext cx="2218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6EB5"/>
                </a:solidFill>
              </a:rPr>
              <a:t>Budget Monitoring</a:t>
            </a:r>
          </a:p>
        </p:txBody>
      </p:sp>
    </p:spTree>
    <p:extLst>
      <p:ext uri="{BB962C8B-B14F-4D97-AF65-F5344CB8AC3E}">
        <p14:creationId xmlns:p14="http://schemas.microsoft.com/office/powerpoint/2010/main" val="154962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E66B1E-8CC9-7CFB-1ABD-2A5A36131B9B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A0DE2-D43A-04E0-867B-24292E6517BF}"/>
              </a:ext>
            </a:extLst>
          </p:cNvPr>
          <p:cNvSpPr txBox="1"/>
          <p:nvPr/>
        </p:nvSpPr>
        <p:spPr>
          <a:xfrm>
            <a:off x="4875963" y="212244"/>
            <a:ext cx="281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Key Insights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5CEE64-14F1-2F79-4809-A967A09D0F6C}"/>
              </a:ext>
            </a:extLst>
          </p:cNvPr>
          <p:cNvSpPr/>
          <p:nvPr/>
        </p:nvSpPr>
        <p:spPr>
          <a:xfrm>
            <a:off x="779736" y="1354320"/>
            <a:ext cx="3044649" cy="2036580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3AA6F-003E-8BAC-4819-449B7077A678}"/>
              </a:ext>
            </a:extLst>
          </p:cNvPr>
          <p:cNvSpPr/>
          <p:nvPr/>
        </p:nvSpPr>
        <p:spPr>
          <a:xfrm>
            <a:off x="779736" y="4141065"/>
            <a:ext cx="3044649" cy="2036580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A711EB-3964-F11B-1983-3AA827E3A552}"/>
              </a:ext>
            </a:extLst>
          </p:cNvPr>
          <p:cNvSpPr/>
          <p:nvPr/>
        </p:nvSpPr>
        <p:spPr>
          <a:xfrm>
            <a:off x="4742491" y="1354320"/>
            <a:ext cx="3044649" cy="2036580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40766C-CDF8-9182-81C1-ABC4C2DF3B1F}"/>
              </a:ext>
            </a:extLst>
          </p:cNvPr>
          <p:cNvSpPr/>
          <p:nvPr/>
        </p:nvSpPr>
        <p:spPr>
          <a:xfrm>
            <a:off x="4742491" y="4127667"/>
            <a:ext cx="3044649" cy="2036580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A68B19-7091-1C68-BA5A-27A203F6BFFD}"/>
              </a:ext>
            </a:extLst>
          </p:cNvPr>
          <p:cNvSpPr/>
          <p:nvPr/>
        </p:nvSpPr>
        <p:spPr>
          <a:xfrm>
            <a:off x="8705246" y="1367718"/>
            <a:ext cx="3044650" cy="2036580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91DBB4-A89B-3098-97BE-AF5EF01740DA}"/>
              </a:ext>
            </a:extLst>
          </p:cNvPr>
          <p:cNvSpPr/>
          <p:nvPr/>
        </p:nvSpPr>
        <p:spPr>
          <a:xfrm>
            <a:off x="8705246" y="4141065"/>
            <a:ext cx="3044650" cy="2036580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A blue exclamation mark in a triangle&#10;&#10;AI-generated content may be incorrect.">
            <a:extLst>
              <a:ext uri="{FF2B5EF4-FFF2-40B4-BE49-F238E27FC236}">
                <a16:creationId xmlns:a16="http://schemas.microsoft.com/office/drawing/2014/main" id="{EEAD1377-95D9-FE17-A97F-1984A857A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222" y="4127666"/>
            <a:ext cx="910418" cy="966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6295C7-6D68-3C10-0BB3-6AC974CA3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885" y="1421658"/>
            <a:ext cx="964350" cy="964350"/>
          </a:xfrm>
          <a:prstGeom prst="rect">
            <a:avLst/>
          </a:prstGeom>
        </p:spPr>
      </p:pic>
      <p:pic>
        <p:nvPicPr>
          <p:cNvPr id="19" name="Picture 18" descr="A blue computer screen with black background&#10;&#10;AI-generated content may be incorrect.">
            <a:extLst>
              <a:ext uri="{FF2B5EF4-FFF2-40B4-BE49-F238E27FC236}">
                <a16:creationId xmlns:a16="http://schemas.microsoft.com/office/drawing/2014/main" id="{6BFBD160-88B1-71F8-852B-DF37A0F0D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446" y="4179683"/>
            <a:ext cx="984737" cy="804299"/>
          </a:xfrm>
          <a:prstGeom prst="rect">
            <a:avLst/>
          </a:prstGeom>
        </p:spPr>
      </p:pic>
      <p:pic>
        <p:nvPicPr>
          <p:cNvPr id="21" name="Picture 20" descr="A blue line with a line in a square&#10;&#10;AI-generated content may be incorrect.">
            <a:extLst>
              <a:ext uri="{FF2B5EF4-FFF2-40B4-BE49-F238E27FC236}">
                <a16:creationId xmlns:a16="http://schemas.microsoft.com/office/drawing/2014/main" id="{CCE7277F-67AA-7E50-B6A6-EAA30FEDAD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809" y="4179683"/>
            <a:ext cx="930426" cy="914831"/>
          </a:xfrm>
          <a:prstGeom prst="rect">
            <a:avLst/>
          </a:prstGeom>
        </p:spPr>
      </p:pic>
      <p:pic>
        <p:nvPicPr>
          <p:cNvPr id="23" name="Picture 22" descr="A blue outline of a person&#10;&#10;AI-generated content may be incorrect.">
            <a:extLst>
              <a:ext uri="{FF2B5EF4-FFF2-40B4-BE49-F238E27FC236}">
                <a16:creationId xmlns:a16="http://schemas.microsoft.com/office/drawing/2014/main" id="{D5FCAD2B-5C16-6F2D-8826-916F115585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514" y="1421658"/>
            <a:ext cx="1145512" cy="950952"/>
          </a:xfrm>
          <a:prstGeom prst="rect">
            <a:avLst/>
          </a:prstGeom>
        </p:spPr>
      </p:pic>
      <p:pic>
        <p:nvPicPr>
          <p:cNvPr id="25" name="Picture 24" descr="A blue symbol on a black background&#10;&#10;AI-generated content may be incorrect.">
            <a:extLst>
              <a:ext uri="{FF2B5EF4-FFF2-40B4-BE49-F238E27FC236}">
                <a16:creationId xmlns:a16="http://schemas.microsoft.com/office/drawing/2014/main" id="{00FD4182-3D7A-8B09-2CC6-7264B3B526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641" y="1408260"/>
            <a:ext cx="1197056" cy="9643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ACA7CF9-28E8-BDA8-6F3B-748F10715821}"/>
              </a:ext>
            </a:extLst>
          </p:cNvPr>
          <p:cNvSpPr txBox="1"/>
          <p:nvPr/>
        </p:nvSpPr>
        <p:spPr>
          <a:xfrm>
            <a:off x="1524569" y="2604408"/>
            <a:ext cx="1554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1,500+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Beneficiaries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B6FF5E-7FA1-69B1-12AB-6E8BA8BF2232}"/>
              </a:ext>
            </a:extLst>
          </p:cNvPr>
          <p:cNvSpPr txBox="1"/>
          <p:nvPr/>
        </p:nvSpPr>
        <p:spPr>
          <a:xfrm>
            <a:off x="5075340" y="2602189"/>
            <a:ext cx="2378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54%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Female Participation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10CBA-559B-9304-F56A-88B5E6CC70F0}"/>
              </a:ext>
            </a:extLst>
          </p:cNvPr>
          <p:cNvSpPr txBox="1"/>
          <p:nvPr/>
        </p:nvSpPr>
        <p:spPr>
          <a:xfrm>
            <a:off x="9262342" y="2604465"/>
            <a:ext cx="2028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83%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Budget Utilization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4E3BCF-6FD8-0A00-C409-DCF0187106F9}"/>
              </a:ext>
            </a:extLst>
          </p:cNvPr>
          <p:cNvSpPr txBox="1"/>
          <p:nvPr/>
        </p:nvSpPr>
        <p:spPr>
          <a:xfrm>
            <a:off x="1404622" y="5436342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006EB5"/>
                </a:solidFill>
              </a:rPr>
              <a:t>76%</a:t>
            </a:r>
          </a:p>
          <a:p>
            <a:pPr algn="ctr"/>
            <a:r>
              <a:rPr lang="en-US">
                <a:solidFill>
                  <a:srgbClr val="006EB5"/>
                </a:solidFill>
              </a:rPr>
              <a:t>Income Growth</a:t>
            </a:r>
            <a:endParaRPr lang="en-US" dirty="0">
              <a:solidFill>
                <a:srgbClr val="006EB5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6B0F4-4CFD-5640-B651-E81F82C9202F}"/>
              </a:ext>
            </a:extLst>
          </p:cNvPr>
          <p:cNvSpPr txBox="1"/>
          <p:nvPr/>
        </p:nvSpPr>
        <p:spPr>
          <a:xfrm>
            <a:off x="5350415" y="5436342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Top </a:t>
            </a:r>
            <a:r>
              <a:rPr lang="en-US" dirty="0" err="1">
                <a:solidFill>
                  <a:srgbClr val="006EB5"/>
                </a:solidFill>
              </a:rPr>
              <a:t>Programme</a:t>
            </a:r>
            <a:r>
              <a:rPr lang="en-US" dirty="0">
                <a:solidFill>
                  <a:srgbClr val="006EB5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ICT Training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B88944-487B-5DE2-A454-5E3ED2BD2F5D}"/>
              </a:ext>
            </a:extLst>
          </p:cNvPr>
          <p:cNvSpPr txBox="1"/>
          <p:nvPr/>
        </p:nvSpPr>
        <p:spPr>
          <a:xfrm>
            <a:off x="9262342" y="5436341"/>
            <a:ext cx="1916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Most Risks:</a:t>
            </a:r>
          </a:p>
          <a:p>
            <a:pPr algn="ctr"/>
            <a:r>
              <a:rPr lang="en-US" dirty="0">
                <a:solidFill>
                  <a:srgbClr val="006EB5"/>
                </a:solidFill>
              </a:rPr>
              <a:t>Medium Severity</a:t>
            </a:r>
          </a:p>
        </p:txBody>
      </p:sp>
    </p:spTree>
    <p:extLst>
      <p:ext uri="{BB962C8B-B14F-4D97-AF65-F5344CB8AC3E}">
        <p14:creationId xmlns:p14="http://schemas.microsoft.com/office/powerpoint/2010/main" val="405600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C2F297-B8D4-FAF7-D442-2826C8A8272B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36ED5-86F3-8407-BAC0-27248BE44947}"/>
              </a:ext>
            </a:extLst>
          </p:cNvPr>
          <p:cNvSpPr txBox="1"/>
          <p:nvPr/>
        </p:nvSpPr>
        <p:spPr>
          <a:xfrm>
            <a:off x="4252965" y="101712"/>
            <a:ext cx="4167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solidFill>
                  <a:srgbClr val="006EB5"/>
                </a:solidFill>
              </a:rPr>
              <a:t>Recommendations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6302C1-7133-A706-7BCC-546C211AA269}"/>
              </a:ext>
            </a:extLst>
          </p:cNvPr>
          <p:cNvSpPr/>
          <p:nvPr/>
        </p:nvSpPr>
        <p:spPr>
          <a:xfrm>
            <a:off x="1406768" y="1587639"/>
            <a:ext cx="9746901" cy="4772967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2CE51-6A81-56B8-FA15-F5BCB94B4F4F}"/>
              </a:ext>
            </a:extLst>
          </p:cNvPr>
          <p:cNvSpPr txBox="1"/>
          <p:nvPr/>
        </p:nvSpPr>
        <p:spPr>
          <a:xfrm>
            <a:off x="4690908" y="2103308"/>
            <a:ext cx="5226815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Increase support for low-performing LGAs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Strengthen field data validation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Improve grant monitoring process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Expand female outreach in underrepresented LGAs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Enhance risk escalation mechanisms</a:t>
            </a:r>
          </a:p>
        </p:txBody>
      </p:sp>
      <p:pic>
        <p:nvPicPr>
          <p:cNvPr id="10" name="Picture 9" descr="A blue check mark in a square&#10;&#10;AI-generated content may be incorrect.">
            <a:extLst>
              <a:ext uri="{FF2B5EF4-FFF2-40B4-BE49-F238E27FC236}">
                <a16:creationId xmlns:a16="http://schemas.microsoft.com/office/drawing/2014/main" id="{FC5F04E3-834D-0DBF-6327-4E0357CB2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643" y="1958691"/>
            <a:ext cx="812698" cy="812698"/>
          </a:xfrm>
          <a:prstGeom prst="rect">
            <a:avLst/>
          </a:prstGeom>
        </p:spPr>
      </p:pic>
      <p:pic>
        <p:nvPicPr>
          <p:cNvPr id="11" name="Picture 10" descr="A blue check mark in a square&#10;&#10;AI-generated content may be incorrect.">
            <a:extLst>
              <a:ext uri="{FF2B5EF4-FFF2-40B4-BE49-F238E27FC236}">
                <a16:creationId xmlns:a16="http://schemas.microsoft.com/office/drawing/2014/main" id="{968DDFB7-D670-6AF6-4F38-BAEBFE56F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643" y="2790607"/>
            <a:ext cx="812698" cy="812698"/>
          </a:xfrm>
          <a:prstGeom prst="rect">
            <a:avLst/>
          </a:prstGeom>
        </p:spPr>
      </p:pic>
      <p:pic>
        <p:nvPicPr>
          <p:cNvPr id="12" name="Picture 11" descr="A blue check mark in a square&#10;&#10;AI-generated content may be incorrect.">
            <a:extLst>
              <a:ext uri="{FF2B5EF4-FFF2-40B4-BE49-F238E27FC236}">
                <a16:creationId xmlns:a16="http://schemas.microsoft.com/office/drawing/2014/main" id="{9D36EB7E-46C1-3991-C818-7BD2D2879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774" y="3586654"/>
            <a:ext cx="812698" cy="812698"/>
          </a:xfrm>
          <a:prstGeom prst="rect">
            <a:avLst/>
          </a:prstGeom>
        </p:spPr>
      </p:pic>
      <p:pic>
        <p:nvPicPr>
          <p:cNvPr id="13" name="Picture 12" descr="A blue check mark in a square&#10;&#10;AI-generated content may be incorrect.">
            <a:extLst>
              <a:ext uri="{FF2B5EF4-FFF2-40B4-BE49-F238E27FC236}">
                <a16:creationId xmlns:a16="http://schemas.microsoft.com/office/drawing/2014/main" id="{EE093ABC-B8B1-CE5A-5E15-8A0AC2D78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774" y="4356309"/>
            <a:ext cx="812698" cy="812698"/>
          </a:xfrm>
          <a:prstGeom prst="rect">
            <a:avLst/>
          </a:prstGeom>
        </p:spPr>
      </p:pic>
      <p:pic>
        <p:nvPicPr>
          <p:cNvPr id="14" name="Picture 13" descr="A blue check mark in a square&#10;&#10;AI-generated content may be incorrect.">
            <a:extLst>
              <a:ext uri="{FF2B5EF4-FFF2-40B4-BE49-F238E27FC236}">
                <a16:creationId xmlns:a16="http://schemas.microsoft.com/office/drawing/2014/main" id="{DA86022E-E7CC-6322-CC7C-9EAD77003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643" y="5167521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9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DACB2-B833-49BD-A38F-26110AC002E0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9808B-B81C-8B03-7A62-2CA49A8D2936}"/>
              </a:ext>
            </a:extLst>
          </p:cNvPr>
          <p:cNvSpPr txBox="1"/>
          <p:nvPr/>
        </p:nvSpPr>
        <p:spPr>
          <a:xfrm>
            <a:off x="3981660" y="342872"/>
            <a:ext cx="4850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Skills Demonstrated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9F4480-396E-7815-5EF7-2B351745B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801" y="3606695"/>
            <a:ext cx="22944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6EB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Dashboard Design </a:t>
            </a:r>
          </a:p>
        </p:txBody>
      </p:sp>
      <p:pic>
        <p:nvPicPr>
          <p:cNvPr id="7" name="Picture 6" descr="A blue and black calculator&#10;&#10;AI-generated content may be incorrect.">
            <a:extLst>
              <a:ext uri="{FF2B5EF4-FFF2-40B4-BE49-F238E27FC236}">
                <a16:creationId xmlns:a16="http://schemas.microsoft.com/office/drawing/2014/main" id="{6C7BC3AC-211D-57F4-8DDC-E87594605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28" y="4143867"/>
            <a:ext cx="2294401" cy="2294401"/>
          </a:xfrm>
          <a:prstGeom prst="rect">
            <a:avLst/>
          </a:prstGeom>
        </p:spPr>
      </p:pic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AFB60326-CF78-1CF5-6488-6313654E7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990" y="1572786"/>
            <a:ext cx="1818114" cy="1818114"/>
          </a:xfrm>
          <a:prstGeom prst="rect">
            <a:avLst/>
          </a:prstGeom>
        </p:spPr>
      </p:pic>
      <p:pic>
        <p:nvPicPr>
          <p:cNvPr id="14" name="Picture 13" descr="A blue and black graphic with a bitcoin sign on it&#10;&#10;AI-generated content may be incorrect.">
            <a:extLst>
              <a:ext uri="{FF2B5EF4-FFF2-40B4-BE49-F238E27FC236}">
                <a16:creationId xmlns:a16="http://schemas.microsoft.com/office/drawing/2014/main" id="{F28231EE-7366-C1B2-74A9-F2D498BEB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990" y="4496704"/>
            <a:ext cx="2154957" cy="1982868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FDD90368-EC9F-5CD1-772C-7D8828439D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51" y="4496704"/>
            <a:ext cx="1818115" cy="1818114"/>
          </a:xfrm>
          <a:prstGeom prst="rect">
            <a:avLst/>
          </a:prstGeom>
        </p:spPr>
      </p:pic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1CB2B833-E9E9-7A08-5C9C-192C48FE5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28" y="1566932"/>
            <a:ext cx="2294401" cy="1916921"/>
          </a:xfrm>
          <a:prstGeom prst="rect">
            <a:avLst/>
          </a:prstGeom>
        </p:spPr>
      </p:pic>
      <p:pic>
        <p:nvPicPr>
          <p:cNvPr id="20" name="Picture 19" descr="A blue and black logo&#10;&#10;AI-generated content may be incorrect.">
            <a:extLst>
              <a:ext uri="{FF2B5EF4-FFF2-40B4-BE49-F238E27FC236}">
                <a16:creationId xmlns:a16="http://schemas.microsoft.com/office/drawing/2014/main" id="{591257DA-2BE8-98EC-8521-3DBA8EEFC1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009" y="1566932"/>
            <a:ext cx="1818114" cy="1862068"/>
          </a:xfrm>
          <a:prstGeom prst="rect">
            <a:avLst/>
          </a:prstGeom>
        </p:spPr>
      </p:pic>
      <p:pic>
        <p:nvPicPr>
          <p:cNvPr id="22" name="Picture 21" descr="A blue and black logo&#10;&#10;AI-generated content may be incorrect.">
            <a:extLst>
              <a:ext uri="{FF2B5EF4-FFF2-40B4-BE49-F238E27FC236}">
                <a16:creationId xmlns:a16="http://schemas.microsoft.com/office/drawing/2014/main" id="{A9F1B154-D4CD-250C-63DD-23E91B34FF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51" y="1566932"/>
            <a:ext cx="1703233" cy="1916921"/>
          </a:xfrm>
          <a:prstGeom prst="rect">
            <a:avLst/>
          </a:prstGeom>
        </p:spPr>
      </p:pic>
      <p:pic>
        <p:nvPicPr>
          <p:cNvPr id="24" name="Picture 23" descr="A blue and black diagram&#10;&#10;AI-generated content may be incorrect.">
            <a:extLst>
              <a:ext uri="{FF2B5EF4-FFF2-40B4-BE49-F238E27FC236}">
                <a16:creationId xmlns:a16="http://schemas.microsoft.com/office/drawing/2014/main" id="{2E6060CB-B105-5FCE-1AD5-AF17DC465A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882" y="4245209"/>
            <a:ext cx="2535565" cy="237665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460FF4-7123-AC3B-DAA0-7F5FF1014B37}"/>
              </a:ext>
            </a:extLst>
          </p:cNvPr>
          <p:cNvSpPr txBox="1"/>
          <p:nvPr/>
        </p:nvSpPr>
        <p:spPr>
          <a:xfrm>
            <a:off x="1257555" y="1052259"/>
            <a:ext cx="1818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Data Cleaning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050A67-B3E3-B021-4DFC-B7CCAA0419A8}"/>
              </a:ext>
            </a:extLst>
          </p:cNvPr>
          <p:cNvSpPr txBox="1"/>
          <p:nvPr/>
        </p:nvSpPr>
        <p:spPr>
          <a:xfrm>
            <a:off x="4116096" y="1093401"/>
            <a:ext cx="1082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Python</a:t>
            </a:r>
            <a:endParaRPr lang="en-US" dirty="0">
              <a:solidFill>
                <a:srgbClr val="006EB5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E94209-C8A2-57B4-B15B-C0DF4D3B1BE6}"/>
              </a:ext>
            </a:extLst>
          </p:cNvPr>
          <p:cNvSpPr txBox="1"/>
          <p:nvPr/>
        </p:nvSpPr>
        <p:spPr>
          <a:xfrm>
            <a:off x="6933092" y="1093401"/>
            <a:ext cx="101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Excel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B06457-7126-35DA-163B-2A3255D47E2F}"/>
              </a:ext>
            </a:extLst>
          </p:cNvPr>
          <p:cNvSpPr txBox="1"/>
          <p:nvPr/>
        </p:nvSpPr>
        <p:spPr>
          <a:xfrm>
            <a:off x="9880971" y="1093401"/>
            <a:ext cx="137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Power BI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11B88F-145C-414E-95FB-F07DD51281E4}"/>
              </a:ext>
            </a:extLst>
          </p:cNvPr>
          <p:cNvSpPr txBox="1"/>
          <p:nvPr/>
        </p:nvSpPr>
        <p:spPr>
          <a:xfrm>
            <a:off x="1668325" y="3875877"/>
            <a:ext cx="101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DAX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025BCD-C7F2-FEE1-B464-4D7065198653}"/>
              </a:ext>
            </a:extLst>
          </p:cNvPr>
          <p:cNvSpPr txBox="1"/>
          <p:nvPr/>
        </p:nvSpPr>
        <p:spPr>
          <a:xfrm>
            <a:off x="3821497" y="3875945"/>
            <a:ext cx="1818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KPI Analytics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F26CD-62AC-16FE-2062-C2A51192584B}"/>
              </a:ext>
            </a:extLst>
          </p:cNvPr>
          <p:cNvSpPr txBox="1"/>
          <p:nvPr/>
        </p:nvSpPr>
        <p:spPr>
          <a:xfrm>
            <a:off x="6585029" y="3552711"/>
            <a:ext cx="1818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6EB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M&amp;E Reporting </a:t>
            </a:r>
          </a:p>
        </p:txBody>
      </p:sp>
    </p:spTree>
    <p:extLst>
      <p:ext uri="{BB962C8B-B14F-4D97-AF65-F5344CB8AC3E}">
        <p14:creationId xmlns:p14="http://schemas.microsoft.com/office/powerpoint/2010/main" val="672915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0C599E-F620-21BB-9302-804E2D85116F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81339-E256-1B47-1F88-F3060EDB4DDF}"/>
              </a:ext>
            </a:extLst>
          </p:cNvPr>
          <p:cNvSpPr txBox="1"/>
          <p:nvPr/>
        </p:nvSpPr>
        <p:spPr>
          <a:xfrm>
            <a:off x="4443883" y="151954"/>
            <a:ext cx="3685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6EB5"/>
                </a:solidFill>
              </a:rPr>
              <a:t>Business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1D9CDF-CF14-AF6B-4683-845DC2645AC5}"/>
              </a:ext>
            </a:extLst>
          </p:cNvPr>
          <p:cNvSpPr/>
          <p:nvPr/>
        </p:nvSpPr>
        <p:spPr>
          <a:xfrm>
            <a:off x="2652765" y="1587640"/>
            <a:ext cx="6360606" cy="2853732"/>
          </a:xfrm>
          <a:prstGeom prst="roundRect">
            <a:avLst/>
          </a:prstGeom>
          <a:solidFill>
            <a:srgbClr val="E7F0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82DF1-AC0A-D4A1-5712-39898593A731}"/>
              </a:ext>
            </a:extLst>
          </p:cNvPr>
          <p:cNvSpPr txBox="1"/>
          <p:nvPr/>
        </p:nvSpPr>
        <p:spPr>
          <a:xfrm>
            <a:off x="3147646" y="2067674"/>
            <a:ext cx="5584372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dashboard transformed fragmented </a:t>
            </a:r>
            <a:r>
              <a:rPr lang="en-US" dirty="0" err="1"/>
              <a:t>programme</a:t>
            </a:r>
            <a:r>
              <a:rPr lang="en-US" dirty="0"/>
              <a:t> data into actionable insights, enabling faster reporting, stronger accountability, better risk management, and improved strategic decision-making.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0AEC3-4713-AF35-AE56-4377F95CA611}"/>
              </a:ext>
            </a:extLst>
          </p:cNvPr>
          <p:cNvSpPr txBox="1"/>
          <p:nvPr/>
        </p:nvSpPr>
        <p:spPr>
          <a:xfrm>
            <a:off x="6981092" y="5795786"/>
            <a:ext cx="2032279" cy="369332"/>
          </a:xfrm>
          <a:prstGeom prst="rect">
            <a:avLst/>
          </a:prstGeom>
          <a:solidFill>
            <a:srgbClr val="E7F0F9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Improved Planning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CDD3D5-FBE5-92B1-8466-5E4B4A4D21F2}"/>
              </a:ext>
            </a:extLst>
          </p:cNvPr>
          <p:cNvSpPr txBox="1"/>
          <p:nvPr/>
        </p:nvSpPr>
        <p:spPr>
          <a:xfrm>
            <a:off x="2652765" y="5948877"/>
            <a:ext cx="2200361" cy="383285"/>
          </a:xfrm>
          <a:prstGeom prst="rect">
            <a:avLst/>
          </a:prstGeom>
          <a:solidFill>
            <a:srgbClr val="E7F0F9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Early Risk Detection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7A0D14-4BB3-3A16-64A1-050C5816F328}"/>
              </a:ext>
            </a:extLst>
          </p:cNvPr>
          <p:cNvSpPr txBox="1"/>
          <p:nvPr/>
        </p:nvSpPr>
        <p:spPr>
          <a:xfrm>
            <a:off x="6899677" y="4921406"/>
            <a:ext cx="2113694" cy="369332"/>
          </a:xfrm>
          <a:prstGeom prst="rect">
            <a:avLst/>
          </a:prstGeom>
          <a:solidFill>
            <a:srgbClr val="E7F0F9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EB5"/>
                </a:solidFill>
              </a:rPr>
              <a:t>Better Governance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3737349-F922-FBC3-BD0C-55C57CC81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65" y="4905952"/>
            <a:ext cx="1928370" cy="369332"/>
          </a:xfrm>
          <a:prstGeom prst="rect">
            <a:avLst/>
          </a:prstGeom>
          <a:solidFill>
            <a:srgbClr val="E7F0F9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6EB5"/>
                </a:solidFill>
                <a:effectLst/>
                <a:latin typeface="Arial" panose="020B0604020202020204" pitchFamily="34" charset="0"/>
              </a:rPr>
              <a:t>Faster Reporting </a:t>
            </a:r>
          </a:p>
        </p:txBody>
      </p:sp>
    </p:spTree>
    <p:extLst>
      <p:ext uri="{BB962C8B-B14F-4D97-AF65-F5344CB8AC3E}">
        <p14:creationId xmlns:p14="http://schemas.microsoft.com/office/powerpoint/2010/main" val="1184246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4366AB-4481-7081-E731-697D79DF4A7A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08BB4-221C-17BB-1CCD-78B71E006D15}"/>
              </a:ext>
            </a:extLst>
          </p:cNvPr>
          <p:cNvSpPr txBox="1"/>
          <p:nvPr/>
        </p:nvSpPr>
        <p:spPr>
          <a:xfrm>
            <a:off x="4531808" y="2975539"/>
            <a:ext cx="30647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935BA-F5DE-591D-731F-5688D77AD9CE}"/>
              </a:ext>
            </a:extLst>
          </p:cNvPr>
          <p:cNvSpPr txBox="1"/>
          <p:nvPr/>
        </p:nvSpPr>
        <p:spPr>
          <a:xfrm>
            <a:off x="5458768" y="3668877"/>
            <a:ext cx="1484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B5C47-48BB-B4FF-55A6-16A352F55510}"/>
              </a:ext>
            </a:extLst>
          </p:cNvPr>
          <p:cNvSpPr txBox="1"/>
          <p:nvPr/>
        </p:nvSpPr>
        <p:spPr>
          <a:xfrm>
            <a:off x="5140989" y="5992224"/>
            <a:ext cx="1846384" cy="646331"/>
          </a:xfrm>
          <a:prstGeom prst="rect">
            <a:avLst/>
          </a:prstGeom>
          <a:solidFill>
            <a:srgbClr val="003B73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Umar Musa Isah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Data Analyst</a:t>
            </a:r>
          </a:p>
        </p:txBody>
      </p:sp>
      <p:pic>
        <p:nvPicPr>
          <p:cNvPr id="10" name="Picture 9" descr="A white speech bubble with a question mark in it&#10;&#10;AI-generated content may be incorrect.">
            <a:extLst>
              <a:ext uri="{FF2B5EF4-FFF2-40B4-BE49-F238E27FC236}">
                <a16:creationId xmlns:a16="http://schemas.microsoft.com/office/drawing/2014/main" id="{169EB5BA-AE8E-DE1E-F194-36512791C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39" y="4120857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8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319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musa isah</dc:creator>
  <cp:lastModifiedBy>umar musa isah</cp:lastModifiedBy>
  <cp:revision>23</cp:revision>
  <dcterms:created xsi:type="dcterms:W3CDTF">2026-06-26T15:44:44Z</dcterms:created>
  <dcterms:modified xsi:type="dcterms:W3CDTF">2026-06-26T19:45:23Z</dcterms:modified>
</cp:coreProperties>
</file>